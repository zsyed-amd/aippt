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memory capacity — that is the MI300X differentiator for LLM inference.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Memory capacity doubles; bandwidth increases 1.65×; compute increases 3.4× FP16.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GeoMean across batch sizes 1–512. Source: AMD internal, ROCm 6.3, vLLM 0.6.x. Competitor measured on identical hardware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Typical time-to-inference from bare metal: 4–6 hours including driver install and model download.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tensor-parallel-size=8 for 405B models. The 192 GB unified memory eliminates model sharding for most 70B–130B parameter models.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TITLE_MASTER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CONTENT_MASTER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CLOSING_MASTER-image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MAST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mes/assets/instinct-lockup-w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17352" y="6400800"/>
            <a:ext cx="1371600" cy="29260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MAST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mes/assets/instinct-lockup-w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17352" y="6400800"/>
            <a:ext cx="1371600" cy="2926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AEBEC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MAST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IVIDER_MASTER">
    <p:bg>
      <p:bgPr>
        <a:solidFill>
          <a:srgbClr val="1314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94011" cy="6858000"/>
          </a:xfrm>
          <a:prstGeom prst="rect">
            <a:avLst/>
          </a:prstGeom>
          <a:solidFill>
            <a:srgbClr val="1D1F21"/>
          </a:solidFill>
          <a:ln/>
        </p:spPr>
      </p:sp>
      <p:sp>
        <p:nvSpPr>
          <p:cNvPr id="3" name="Shape 1"/>
          <p:cNvSpPr/>
          <p:nvPr/>
        </p:nvSpPr>
        <p:spPr>
          <a:xfrm>
            <a:off x="2157435" y="0"/>
            <a:ext cx="36576" cy="6858000"/>
          </a:xfrm>
          <a:prstGeom prst="rect">
            <a:avLst/>
          </a:prstGeom>
          <a:solidFill>
            <a:srgbClr val="00C2DE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AEBEC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132320" y="731520"/>
            <a:ext cx="5486400" cy="5486400"/>
          </a:xfrm>
          <a:prstGeom prst="ellipse">
            <a:avLst/>
          </a:prstGeom>
          <a:solidFill>
            <a:srgbClr val="00C2DE">
              <a:alpha val="6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585216" y="2331720"/>
            <a:ext cx="822960" cy="22860"/>
          </a:xfrm>
          <a:prstGeom prst="rect">
            <a:avLst/>
          </a:prstGeom>
          <a:solidFill>
            <a:srgbClr val="00C2DE"/>
          </a:solidFill>
          <a:ln/>
        </p:spPr>
      </p:sp>
      <p:sp>
        <p:nvSpPr>
          <p:cNvPr id="4" name="Text 2"/>
          <p:cNvSpPr/>
          <p:nvPr/>
        </p:nvSpPr>
        <p:spPr>
          <a:xfrm>
            <a:off x="1545336" y="2267712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700" kern="0" dirty="0">
                <a:solidFill>
                  <a:srgbClr val="00C2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INSTINCT PLATFORM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85216" y="2514600"/>
            <a:ext cx="7772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6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Instinct</a:t>
            </a:r>
            <a:endParaRPr lang="en-US" sz="5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6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MI300X</a:t>
            </a:r>
            <a:endParaRPr lang="en-US" sz="5600" dirty="0"/>
          </a:p>
        </p:txBody>
      </p:sp>
      <p:sp>
        <p:nvSpPr>
          <p:cNvPr id="6" name="Shape 4"/>
          <p:cNvSpPr/>
          <p:nvPr/>
        </p:nvSpPr>
        <p:spPr>
          <a:xfrm>
            <a:off x="585216" y="4663440"/>
            <a:ext cx="2743200" cy="41148"/>
          </a:xfrm>
          <a:prstGeom prst="rect">
            <a:avLst/>
          </a:prstGeom>
          <a:solidFill>
            <a:srgbClr val="00C2DE"/>
          </a:solidFill>
          <a:ln/>
        </p:spPr>
      </p:sp>
      <p:sp>
        <p:nvSpPr>
          <p:cNvPr id="7" name="Text 5"/>
          <p:cNvSpPr/>
          <p:nvPr/>
        </p:nvSpPr>
        <p:spPr>
          <a:xfrm>
            <a:off x="585216" y="4800600"/>
            <a:ext cx="7772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B4B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Next-Generation Data Center Accelerators</a:t>
            </a:r>
            <a:endParaRPr lang="en-US" sz="1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800" dirty="0">
                <a:solidFill>
                  <a:srgbClr val="B4B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AI and HPC Workloads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85216" y="6446520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200" kern="0" dirty="0">
                <a:solidFill>
                  <a:srgbClr val="B4B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AMD Confidential — Internal Distribution Only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057400"/>
            <a:ext cx="2194011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B4B9BC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742651" y="2400300"/>
            <a:ext cx="886108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B4B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742651" y="2880360"/>
            <a:ext cx="886108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Overview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2742651" y="4023360"/>
            <a:ext cx="1828800" cy="54864"/>
          </a:xfrm>
          <a:prstGeom prst="rect">
            <a:avLst/>
          </a:prstGeom>
          <a:solidFill>
            <a:srgbClr val="00C2DE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11018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AMD Instinct MI300X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50976" y="1097280"/>
            <a:ext cx="10287000" cy="5212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 GB unified HBM3 — </a:t>
            </a:r>
            <a:pPr indent="0" marL="0">
              <a:spcAft>
                <a:spcPts val="2000"/>
              </a:spcAft>
              <a:buNone/>
            </a:pPr>
            <a:r>
              <a:rPr lang="en-US" sz="22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largest memory footprint in class, enabling models too large to fit elsewhere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ecosystem — </a:t>
            </a:r>
            <a:pPr indent="0" marL="0">
              <a:spcAft>
                <a:spcPts val="2000"/>
              </a:spcAft>
              <a:buNone/>
            </a:pPr>
            <a:r>
              <a:rPr lang="en-US" sz="22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ROCm, PyTorch, JAX, vLLM: no lock-in, no tax on access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 at hyperscale — </a:t>
            </a:r>
            <a:pPr indent="0" marL="0">
              <a:spcAft>
                <a:spcPts val="2000"/>
              </a:spcAft>
              <a:buNone/>
            </a:pPr>
            <a:r>
              <a:rPr lang="en-US" sz="22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in El Capitan (#1 TOP500), Microsoft Azure ND series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OCP-compliant OAM — </a:t>
            </a:r>
            <a:pPr indent="0" marL="0">
              <a:spcAft>
                <a:spcPts val="2000"/>
              </a:spcAft>
              <a:buNone/>
            </a:pPr>
            <a:r>
              <a:rPr lang="en-US" sz="22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form factor across all MI300 SKUs, integrates with existing rack designs</a:t>
            </a:r>
            <a:endParaRPr lang="en-US" sz="2400" dirty="0"/>
          </a:p>
        </p:txBody>
      </p:sp>
      <p:sp>
        <p:nvSpPr>
          <p:cNvPr id="5" name="Text 2"/>
          <p:cNvSpPr/>
          <p:nvPr/>
        </p:nvSpPr>
        <p:spPr>
          <a:xfrm>
            <a:off x="1819656" y="146304"/>
            <a:ext cx="73152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600" kern="0" dirty="0">
                <a:solidFill>
                  <a:srgbClr val="00C2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OVERVIEW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AEBEC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11018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MI300X vs. MI250X — Generational Leap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1097280"/>
            <a:ext cx="5212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2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MI300X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126480" y="1097280"/>
            <a:ext cx="5477256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0C2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MI250X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952744" y="1097280"/>
            <a:ext cx="18288" cy="5212080"/>
          </a:xfrm>
          <a:prstGeom prst="rect">
            <a:avLst/>
          </a:prstGeom>
          <a:solidFill>
            <a:srgbClr val="27272A"/>
          </a:solidFill>
          <a:ln/>
        </p:spPr>
      </p:sp>
      <p:sp>
        <p:nvSpPr>
          <p:cNvPr id="6" name="Text 4"/>
          <p:cNvSpPr/>
          <p:nvPr/>
        </p:nvSpPr>
        <p:spPr>
          <a:xfrm>
            <a:off x="585216" y="1554480"/>
            <a:ext cx="5212080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 GB HBM3 unified memory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 TB/s aggregate bandwidth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1,307 TFLOPS FP16 / 2,614 TOPS INT8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GPU + CPU memory architecture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PCIe Gen 5 + 7th-gen Infinity Fabric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126480" y="1554480"/>
            <a:ext cx="5477256" cy="4754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128 GB HBM2e (split across two GCDs)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TB/s aggregate bandwidth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383 TFLOPS FP16 / 383 TOPS INT8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Discrete GPU only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PCIe Gen 4 + 3rd-gen Infinity Fabric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819656" y="146304"/>
            <a:ext cx="73152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600" kern="0" dirty="0">
                <a:solidFill>
                  <a:srgbClr val="00C2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OVERVIEW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AEBEC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11018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Software Stack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85216" y="1097280"/>
            <a:ext cx="5326380" cy="2423160"/>
          </a:xfrm>
          <a:prstGeom prst="rect">
            <a:avLst/>
          </a:prstGeom>
          <a:solidFill>
            <a:srgbClr val="27272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85216" y="1097280"/>
            <a:ext cx="54864" cy="2423160"/>
          </a:xfrm>
          <a:prstGeom prst="rect">
            <a:avLst/>
          </a:prstGeom>
          <a:solidFill>
            <a:srgbClr val="00C2DE"/>
          </a:solidFill>
          <a:ln/>
        </p:spPr>
      </p:sp>
      <p:sp>
        <p:nvSpPr>
          <p:cNvPr id="5" name="Text 3"/>
          <p:cNvSpPr/>
          <p:nvPr/>
        </p:nvSpPr>
        <p:spPr>
          <a:xfrm>
            <a:off x="813816" y="1280160"/>
            <a:ext cx="49149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13816" y="1874520"/>
            <a:ext cx="49149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Open-source GPU compute platform. HIP, rocBLAS, MIOpen, hipBLASLt, rocFFT — full parity with CUDA math libraries.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77356" y="1097280"/>
            <a:ext cx="5326380" cy="2423160"/>
          </a:xfrm>
          <a:prstGeom prst="rect">
            <a:avLst/>
          </a:prstGeom>
          <a:solidFill>
            <a:srgbClr val="27272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277356" y="1097280"/>
            <a:ext cx="54864" cy="2423160"/>
          </a:xfrm>
          <a:prstGeom prst="rect">
            <a:avLst/>
          </a:prstGeom>
          <a:solidFill>
            <a:srgbClr val="F26522"/>
          </a:solidFill>
          <a:ln/>
        </p:spPr>
      </p:sp>
      <p:sp>
        <p:nvSpPr>
          <p:cNvPr id="9" name="Text 7"/>
          <p:cNvSpPr/>
          <p:nvPr/>
        </p:nvSpPr>
        <p:spPr>
          <a:xfrm>
            <a:off x="6505956" y="1280160"/>
            <a:ext cx="49149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PyTorch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505956" y="1874520"/>
            <a:ext cx="49149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ROCm support merged upstream. torch.compile and SDPA kernels tuned for MI300X memory architecture.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85216" y="3886200"/>
            <a:ext cx="5326380" cy="2423160"/>
          </a:xfrm>
          <a:prstGeom prst="rect">
            <a:avLst/>
          </a:prstGeom>
          <a:solidFill>
            <a:srgbClr val="27272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85216" y="3886200"/>
            <a:ext cx="54864" cy="2423160"/>
          </a:xfrm>
          <a:prstGeom prst="rect">
            <a:avLst/>
          </a:prstGeom>
          <a:solidFill>
            <a:srgbClr val="ED1C24"/>
          </a:solidFill>
          <a:ln/>
        </p:spPr>
      </p:sp>
      <p:sp>
        <p:nvSpPr>
          <p:cNvPr id="13" name="Text 11"/>
          <p:cNvSpPr/>
          <p:nvPr/>
        </p:nvSpPr>
        <p:spPr>
          <a:xfrm>
            <a:off x="813816" y="4069080"/>
            <a:ext cx="49149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vLLM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13816" y="4663440"/>
            <a:ext cx="49149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High-throughput LLM inference via PagedAttention. Chunked prefill and speculative decoding supported on MI300X.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277356" y="3886200"/>
            <a:ext cx="5326380" cy="2423160"/>
          </a:xfrm>
          <a:prstGeom prst="rect">
            <a:avLst/>
          </a:prstGeom>
          <a:solidFill>
            <a:srgbClr val="27272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77356" y="3886200"/>
            <a:ext cx="54864" cy="2423160"/>
          </a:xfrm>
          <a:prstGeom prst="rect">
            <a:avLst/>
          </a:prstGeom>
          <a:solidFill>
            <a:srgbClr val="00C2DE"/>
          </a:solidFill>
          <a:ln/>
        </p:spPr>
      </p:sp>
      <p:sp>
        <p:nvSpPr>
          <p:cNvPr id="17" name="Text 15"/>
          <p:cNvSpPr/>
          <p:nvPr/>
        </p:nvSpPr>
        <p:spPr>
          <a:xfrm>
            <a:off x="6505956" y="4069080"/>
            <a:ext cx="49149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JAX / XLA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505956" y="4663440"/>
            <a:ext cx="49149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XLA compiler backend for ROCm fully validated. Research and production workloads at scale.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819656" y="146304"/>
            <a:ext cx="73152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600" kern="0" dirty="0">
                <a:solidFill>
                  <a:srgbClr val="00C2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OVERVIEW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AEBEC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057400"/>
            <a:ext cx="2194011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B4B9BC">
                    <a:alpha val="3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742651" y="2400300"/>
            <a:ext cx="886108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spc="600" kern="0" dirty="0">
                <a:solidFill>
                  <a:srgbClr val="B4B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742651" y="2880360"/>
            <a:ext cx="8861085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4200" dirty="0"/>
          </a:p>
        </p:txBody>
      </p:sp>
      <p:sp>
        <p:nvSpPr>
          <p:cNvPr id="5" name="Shape 3"/>
          <p:cNvSpPr/>
          <p:nvPr/>
        </p:nvSpPr>
        <p:spPr>
          <a:xfrm>
            <a:off x="2742651" y="4023360"/>
            <a:ext cx="1828800" cy="54864"/>
          </a:xfrm>
          <a:prstGeom prst="rect">
            <a:avLst/>
          </a:prstGeom>
          <a:solidFill>
            <a:srgbClr val="00C2DE"/>
          </a:solidFill>
          <a:ln/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11018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 Performance vs. H100 SXM5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85216" y="1879092"/>
            <a:ext cx="3368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C2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1.3×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85216" y="3067812"/>
            <a:ext cx="3368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Llama 3.1 405B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85216" y="3707892"/>
            <a:ext cx="3368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4B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tokens/sec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410456" y="1879092"/>
            <a:ext cx="3368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C2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1.2×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4410456" y="3067812"/>
            <a:ext cx="3368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Mixtral 8×22B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410456" y="3707892"/>
            <a:ext cx="3368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4B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tokens/sec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35696" y="1879092"/>
            <a:ext cx="33680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00C2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2.4×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8235696" y="3067812"/>
            <a:ext cx="3368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 Capacity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35696" y="3707892"/>
            <a:ext cx="3368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4B9B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192 GB vs. 80 GB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819656" y="146304"/>
            <a:ext cx="73152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600" kern="0" dirty="0">
                <a:solidFill>
                  <a:srgbClr val="00C2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AEBEC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11018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Cluster Deployment Workflow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85216" y="2423160"/>
            <a:ext cx="2480310" cy="2560320"/>
          </a:xfrm>
          <a:prstGeom prst="rect">
            <a:avLst/>
          </a:prstGeom>
          <a:solidFill>
            <a:srgbClr val="27272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85216" y="2514600"/>
            <a:ext cx="248031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C2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676656" y="3017520"/>
            <a:ext cx="229743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76656" y="3429000"/>
            <a:ext cx="229743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OAM baseboard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host server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065526" y="3246120"/>
            <a:ext cx="365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C2DE"/>
                </a:solidFill>
              </a:rPr>
              <a:t>→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3431286" y="2423160"/>
            <a:ext cx="2480310" cy="2560320"/>
          </a:xfrm>
          <a:prstGeom prst="rect">
            <a:avLst/>
          </a:prstGeom>
          <a:solidFill>
            <a:srgbClr val="27272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431286" y="2514600"/>
            <a:ext cx="248031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C2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3522726" y="3017520"/>
            <a:ext cx="229743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22726" y="3429000"/>
            <a:ext cx="229743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ROCm 6.x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kernel driver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911596" y="3246120"/>
            <a:ext cx="365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C2DE"/>
                </a:solidFill>
              </a:rPr>
              <a:t>→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6277356" y="2423160"/>
            <a:ext cx="2480310" cy="2560320"/>
          </a:xfrm>
          <a:prstGeom prst="rect">
            <a:avLst/>
          </a:prstGeom>
          <a:solidFill>
            <a:srgbClr val="27272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277356" y="2514600"/>
            <a:ext cx="248031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C2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368796" y="3017520"/>
            <a:ext cx="229743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Configure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68796" y="3429000"/>
            <a:ext cx="229743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vLLM or TGI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serving framework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757666" y="3246120"/>
            <a:ext cx="3657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C2DE"/>
                </a:solidFill>
              </a:rPr>
              <a:t>→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9123426" y="2423160"/>
            <a:ext cx="2480310" cy="2560320"/>
          </a:xfrm>
          <a:prstGeom prst="rect">
            <a:avLst/>
          </a:prstGeom>
          <a:solidFill>
            <a:srgbClr val="27272A"/>
          </a:solidFill>
          <a:ln/>
          <a:effectLst>
            <a:outerShdw sx="100000" sy="100000" kx="0" ky="0" algn="bl" rotWithShape="0" blurRad="508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123426" y="2514600"/>
            <a:ext cx="248031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0C2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214866" y="3017520"/>
            <a:ext cx="229743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Validate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9214866" y="3429000"/>
            <a:ext cx="229743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with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D0D4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models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819656" y="146304"/>
            <a:ext cx="73152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600" kern="0" dirty="0">
                <a:solidFill>
                  <a:srgbClr val="00C2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AEBEC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85216" y="274320"/>
            <a:ext cx="11018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AEB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Start: vLLM on MI300X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85216" y="1097280"/>
            <a:ext cx="11018520" cy="5212080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4" name="Shape 2"/>
          <p:cNvSpPr/>
          <p:nvPr/>
        </p:nvSpPr>
        <p:spPr>
          <a:xfrm>
            <a:off x="585216" y="1097280"/>
            <a:ext cx="11018520" cy="45720"/>
          </a:xfrm>
          <a:prstGeom prst="rect">
            <a:avLst/>
          </a:prstGeom>
          <a:solidFill>
            <a:srgbClr val="00C2DE"/>
          </a:solidFill>
          <a:ln/>
        </p:spPr>
      </p:sp>
      <p:sp>
        <p:nvSpPr>
          <p:cNvPr id="5" name="Text 3"/>
          <p:cNvSpPr/>
          <p:nvPr/>
        </p:nvSpPr>
        <p:spPr>
          <a:xfrm>
            <a:off x="859536" y="1325880"/>
            <a:ext cx="10469880" cy="4846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Pull and launch vLLM — MI300X optimized image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run --device /dev/kfd --device /dev/dri \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--group-add video --shm-size 16g \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-p 8000:8000 \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rocm/vllm-openai:latest \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--model meta-llama/Llama-3.1-70B-Instruct \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--tensor-parallel-size 4 \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--max-model-len 131072 \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--gpu-memory-utilization 0.92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Query the endpoint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http://localhost:8000/v1/chat/completions \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-H "Content-Type: application/json" \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-d '{"model":"meta-llama/Llama-3.1-70B-Instruct",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"messages":[{"role":"user","content":"Explain HBM3"}]}'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819656" y="146304"/>
            <a:ext cx="7315200" cy="1280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600" kern="0" dirty="0">
                <a:solidFill>
                  <a:srgbClr val="00C2D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82880" y="644652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AEBEC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hemes/assets/instinct-lockup-w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65676" y="2907792"/>
            <a:ext cx="3657600" cy="104241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2026-05-06T04:27:42Z</dcterms:created>
  <dcterms:modified xsi:type="dcterms:W3CDTF">2026-05-06T04:27:42Z</dcterms:modified>
</cp:coreProperties>
</file>